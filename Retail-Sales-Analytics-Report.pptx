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Libre Baskerville"/>
      <p:regular r:id="rId201323"/>
    </p:embeddedFont>
    <p:embeddedFont>
      <p:font typeface="Libre Baskerville Bold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Retail Sales Analytics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comprehensive performance overview covering $2.3M in sales, 5,009 orders, and 793 customers — with actionable insights to drive growth.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95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36043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retail business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$2,297,200.86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total sales from 5,009 unique orders placed by 793 customers. The company earned a total profit of $286,397.02, with an average order value of $458.61. Overall, the business is profitable, but profitability varies significantly across products, discounts, and regions, indicating opportunities for optimization.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34679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$2.3M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99174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Sales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72433" y="234679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$286K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99174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Profit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48747" y="2346796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5,009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048747" y="299174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84238" y="356755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793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1884238" y="421250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56755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$458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4660553" y="421250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Order Value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00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Regional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515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1743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Regional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80654"/>
            <a:ext cx="3902943" cy="269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West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with $725,457.82 — the strongest market by sales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East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also performs well and could be a candidate for additional investment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Central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South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may benefit from region-specific marketing or product strategies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South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recorded the lowest sales ($391,721.91), suggesting room for growth through targeted marketing or expansion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gap between West and South indicates uneven regional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Performance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Category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Technology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highest revenue-generating category at $836,154.03 — it should remain a strategic focus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Furniture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($741,999.80) and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Office Supplies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($719,047.03) contribute similar sales, providing a diversified revenue base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office equipment contributes significantly to overall revenue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performance analysis can help optimize inventory and product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60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Customers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02594"/>
            <a:ext cx="2622724" cy="854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8634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Sean Miller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169914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$25,043.05 in sales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702594"/>
            <a:ext cx="2622724" cy="8549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8634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Tamara Chand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169914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$19,052.22 in sales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702594"/>
            <a:ext cx="2622724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863403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Raymond Buch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169914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$15,117.34 in sales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699296"/>
            <a:ext cx="2622724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127" y="286010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Tom Ashbrook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127" y="3166616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$14,595.62 in sales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601" y="2699296"/>
            <a:ext cx="2622724" cy="8549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97610" y="2860104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Adrian Barton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97610" y="3166616"/>
            <a:ext cx="22249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$14,473.57 in sales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371370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small group of customers contributes disproportionately to revenue. Loyalty programs and personalized engagement for these high-value customers could increase retention and lifetime value.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Best-Selling Products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183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Canon imageCLASS 2200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Advanced Copier dominates at $61,599.82 — the top-performing product by a large margin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top products should receive priority in inventory planning and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930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Sales Trend &amp; Seasonality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48631"/>
            <a:ext cx="2290465" cy="1733624"/>
          </a:xfrm>
          <a:prstGeom prst="roundRect">
            <a:avLst>
              <a:gd name="adj" fmla="val 343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69515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Peak Month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001664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November 2014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recorded the highest monthly sales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$112,326.47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48631"/>
            <a:ext cx="2290539" cy="1733624"/>
          </a:xfrm>
          <a:prstGeom prst="roundRect">
            <a:avLst>
              <a:gd name="adj" fmla="val 343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69515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Holiday Effect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001664"/>
            <a:ext cx="199749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Sales appear to peak during the holiday season. Promotional campaigns in Q4 are likely to generate the highest returns.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424014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570536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📦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Inventory Planning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877047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Inventory should be increased before November to meet demand.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668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&amp; Product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892275"/>
            <a:ext cx="4107135" cy="2014538"/>
          </a:xfrm>
          <a:prstGeom prst="roundRect">
            <a:avLst>
              <a:gd name="adj" fmla="val 5067"/>
            </a:avLst>
          </a:prstGeom>
          <a:solidFill>
            <a:srgbClr val="FC8337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3403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Insights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397249"/>
            <a:ext cx="3823618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793 unique customers generated over 5,000 orders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order value of $458.61 indicates customers often purchase multiple items or higher-value products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customers present opportunities for targeted promotions and loyalty programs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3403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Insights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397249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Technology is the strongest-performing category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High-value office equipment contributes significantly to overall revenue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 performance analysis can help optimize inventory and product placement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113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9098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301502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407096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Invest in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1695450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investment in the Technology category — it generates the highest revenue.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36368" y="1090985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36368" y="1301502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4636368" y="1407096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Strengthen the South Region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6368" y="1695450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 regional balance through targeted marketing and expansion in the South.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6119" y="234768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2558207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496119" y="2663800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Retain High-Value 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119" y="2952155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 loyalty programs and personalized offers for top-spending customers.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36368" y="2347689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36368" y="2558207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368" y="2663800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Plan for Q4 Demand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6368" y="2952155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Maintain sufficient inventory for top-selling products before the November sales peak.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6119" y="3604394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6119" y="3814911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6119" y="3920505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Pricing &amp; Discounts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119" y="4208859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discount strategies to ensure they do not unnecessarily reduce profitability.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36368" y="3604394"/>
            <a:ext cx="270197" cy="1688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36368" y="3814911"/>
            <a:ext cx="4011513" cy="1905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5" name="Text 23"/>
          <p:cNvSpPr/>
          <p:nvPr/>
        </p:nvSpPr>
        <p:spPr>
          <a:xfrm>
            <a:off x="4636368" y="3920505"/>
            <a:ext cx="40115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Tailor Regional Campaigns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368" y="4208859"/>
            <a:ext cx="40115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regional performance data to tailor sales campaigns and product offerings.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4664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046783"/>
            <a:ext cx="472276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analysis shows a healthy retail business with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$2.30 million in sales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4542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$286 thousand in profit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Revenue is driven primarily by the Technology category and the West region, while customer spending is concentrated among a relatively small number of high-value customers.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087091"/>
            <a:ext cx="4722763" cy="1832818"/>
          </a:xfrm>
          <a:prstGeom prst="roundRect">
            <a:avLst>
              <a:gd name="adj" fmla="val 3198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0881" y="2091854"/>
            <a:ext cx="2356619" cy="1022375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7" name="Text 4"/>
          <p:cNvSpPr/>
          <p:nvPr/>
        </p:nvSpPr>
        <p:spPr>
          <a:xfrm>
            <a:off x="640407" y="2231380"/>
            <a:ext cx="207756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Profitable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407" y="2531790"/>
            <a:ext cx="20775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$286K profit on $2.3M sales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7500" y="2091854"/>
            <a:ext cx="2356619" cy="1022375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091854"/>
            <a:ext cx="19050" cy="1022375"/>
          </a:xfrm>
          <a:prstGeom prst="roundRect">
            <a:avLst>
              <a:gd name="adj" fmla="val 307674"/>
            </a:avLst>
          </a:prstGeom>
          <a:solidFill>
            <a:srgbClr val="DDD3BA"/>
          </a:solidFill>
          <a:ln/>
        </p:spPr>
      </p:sp>
      <p:sp>
        <p:nvSpPr>
          <p:cNvPr id="11" name="Text 8"/>
          <p:cNvSpPr/>
          <p:nvPr/>
        </p:nvSpPr>
        <p:spPr>
          <a:xfrm>
            <a:off x="2997026" y="2231380"/>
            <a:ext cx="207756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Seasonal Peak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7026" y="2531790"/>
            <a:ext cx="207756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November demand requires inventory planning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0881" y="3114229"/>
            <a:ext cx="4713238" cy="800919"/>
          </a:xfrm>
          <a:prstGeom prst="rect">
            <a:avLst/>
          </a:prstGeom>
          <a:solidFill>
            <a:srgbClr val="F7EDD4"/>
          </a:solidFill>
          <a:ln/>
        </p:spPr>
      </p:sp>
      <p:sp>
        <p:nvSpPr>
          <p:cNvPr id="14" name="Shape 11"/>
          <p:cNvSpPr/>
          <p:nvPr/>
        </p:nvSpPr>
        <p:spPr>
          <a:xfrm>
            <a:off x="500881" y="3114229"/>
            <a:ext cx="4713238" cy="19050"/>
          </a:xfrm>
          <a:prstGeom prst="roundRect">
            <a:avLst>
              <a:gd name="adj" fmla="val 307674"/>
            </a:avLst>
          </a:prstGeom>
          <a:solidFill>
            <a:srgbClr val="DDD3BA"/>
          </a:solidFill>
          <a:ln/>
        </p:spPr>
      </p:sp>
      <p:sp>
        <p:nvSpPr>
          <p:cNvPr id="15" name="Text 12"/>
          <p:cNvSpPr/>
          <p:nvPr/>
        </p:nvSpPr>
        <p:spPr>
          <a:xfrm>
            <a:off x="640407" y="3253755"/>
            <a:ext cx="443418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Growth Opportunity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40407" y="3554164"/>
            <a:ext cx="44341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South region and customer retention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6119" y="4074393"/>
            <a:ext cx="472276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focusing on profitable products, strengthening lower-performing regions, and retaining valuable customers, the business can further improve revenue growth and profitability.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2026-07-11T19:21:04Z</dcterms:created>
  <dcterms:modified xsi:type="dcterms:W3CDTF">2026-07-11T19:21:04Z</dcterms:modified>
</cp:coreProperties>
</file>